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37C0F6-C998-4633-98CC-F20C7B30C233}" v="8" dt="2026-10-08T19:01:54.9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ibkhan212010@gmail.com" userId="301f984cf2b2a371" providerId="LiveId" clId="{A9DC5111-529A-4B89-B50E-5BBD0608AD3E}"/>
    <pc:docChg chg="custSel modSld">
      <pc:chgData name="mahibkhan212010@gmail.com" userId="301f984cf2b2a371" providerId="LiveId" clId="{A9DC5111-529A-4B89-B50E-5BBD0608AD3E}" dt="2026-10-08T18:54:27.269" v="3" actId="20577"/>
      <pc:docMkLst>
        <pc:docMk/>
      </pc:docMkLst>
      <pc:sldChg chg="modSp mod">
        <pc:chgData name="mahibkhan212010@gmail.com" userId="301f984cf2b2a371" providerId="LiveId" clId="{A9DC5111-529A-4B89-B50E-5BBD0608AD3E}" dt="2026-10-08T18:54:27.269" v="3" actId="20577"/>
        <pc:sldMkLst>
          <pc:docMk/>
          <pc:sldMk cId="0" sldId="263"/>
        </pc:sldMkLst>
        <pc:spChg chg="mod">
          <ac:chgData name="mahibkhan212010@gmail.com" userId="301f984cf2b2a371" providerId="LiveId" clId="{A9DC5111-529A-4B89-B50E-5BBD0608AD3E}" dt="2026-10-08T18:54:27.269" v="3" actId="20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mahibkhan212010@gmail.com" userId="301f984cf2b2a371" providerId="LiveId" clId="{A9DC5111-529A-4B89-B50E-5BBD0608AD3E}" dt="2026-10-08T12:44:04.590" v="0" actId="313"/>
          <ac:spMkLst>
            <pc:docMk/>
            <pc:sldMk cId="0" sldId="263"/>
            <ac:spMk id="7" creationId="{8090D9BF-4D1A-553A-1387-A7438B314E7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wachhgrid-backend.onrender.com/docs" TargetMode="External"/><Relationship Id="rId5" Type="http://schemas.openxmlformats.org/officeDocument/2006/relationships/hyperlink" Target="https://github.com/IqraKhanZ/SwachhGrid" TargetMode="External"/><Relationship Id="rId4" Type="http://schemas.openxmlformats.org/officeDocument/2006/relationships/hyperlink" Target="https://swachh-grid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1188720"/>
            <a:ext cx="944849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400" b="1">
                <a:solidFill>
                  <a:srgbClr val="059669"/>
                </a:solidFill>
              </a:defRPr>
            </a:pPr>
            <a:r>
              <a:rPr sz="6600" dirty="0"/>
              <a:t>SWACHHGRID</a:t>
            </a:r>
          </a:p>
          <a:p>
            <a:pPr algn="ctr">
              <a:spcBef>
                <a:spcPts val="1200"/>
              </a:spcBef>
              <a:defRPr sz="2200" b="1">
                <a:solidFill>
                  <a:srgbClr val="0F172A"/>
                </a:solidFill>
              </a:defRPr>
            </a:pPr>
            <a:r>
              <a:rPr sz="4000" dirty="0"/>
              <a:t>AI-Powered Community Environmental Auditing &amp; Civic Action Grid</a:t>
            </a:r>
          </a:p>
          <a:p>
            <a:pPr algn="ctr">
              <a:spcBef>
                <a:spcPts val="800"/>
              </a:spcBef>
              <a:defRPr sz="1400">
                <a:solidFill>
                  <a:srgbClr val="64748B"/>
                </a:solidFill>
              </a:defRPr>
            </a:pPr>
            <a:r>
              <a:rPr sz="2400" dirty="0"/>
              <a:t>Empowering citizens with AI visual auditing to build cleaner, greener, and safer municipal wards.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rPr dirty="0"/>
              <a:t>1. Problem Statement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663440" cy="487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en-US" sz="1600" b="1" dirty="0">
                <a:solidFill>
                  <a:srgbClr val="059669"/>
                </a:solidFill>
              </a:rPr>
              <a:t>• The problem being solved:</a:t>
            </a:r>
            <a:r>
              <a:rPr lang="en-US" sz="1600" dirty="0">
                <a:solidFill>
                  <a:srgbClr val="0F172A"/>
                </a:solidFill>
              </a:rPr>
              <a:t> </a:t>
            </a:r>
            <a:br>
              <a:rPr lang="en-US" sz="1600" dirty="0">
                <a:solidFill>
                  <a:srgbClr val="0F172A"/>
                </a:solidFill>
              </a:rPr>
            </a:br>
            <a:r>
              <a:rPr lang="en-US" sz="1600" dirty="0">
                <a:solidFill>
                  <a:srgbClr val="0F172A"/>
                </a:solidFill>
              </a:rPr>
              <a:t>Uncontrolled urban waste accumulation, open garbage burning, and unmonitored sewage/air pollution hazards creating severe public health risks.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en-US" sz="1600" b="1" dirty="0">
                <a:solidFill>
                  <a:srgbClr val="059669"/>
                </a:solidFill>
              </a:rPr>
              <a:t>• Who is affected and why does it matter?</a:t>
            </a:r>
            <a:br>
              <a:rPr lang="en-US" sz="1600" b="1" dirty="0">
                <a:solidFill>
                  <a:srgbClr val="059669"/>
                </a:solidFill>
              </a:rPr>
            </a:br>
            <a:r>
              <a:rPr lang="en-US" sz="1600" dirty="0">
                <a:solidFill>
                  <a:srgbClr val="0F172A"/>
                </a:solidFill>
              </a:rPr>
              <a:t>Urban citizens, children, and vulnerable communities exposed to toxic emissions, contaminated groundwater, and disease vectors.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en-US" sz="1600" b="1" dirty="0">
                <a:solidFill>
                  <a:srgbClr val="059669"/>
                </a:solidFill>
              </a:rPr>
              <a:t>• What inspired this challenge?:</a:t>
            </a:r>
            <a:r>
              <a:rPr lang="en-US" sz="1600" dirty="0">
                <a:solidFill>
                  <a:srgbClr val="0F172A"/>
                </a:solidFill>
              </a:rPr>
              <a:t> Observing unaddressed garbage heaps in residential wards lingering for weeks due to a lack of citizen auditing tools and slow municipal routing.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en-US" sz="1600" b="1" dirty="0">
                <a:solidFill>
                  <a:srgbClr val="059669"/>
                </a:solidFill>
              </a:rPr>
              <a:t>• Real-World Example:</a:t>
            </a:r>
            <a:r>
              <a:rPr lang="en-US" sz="1600" dirty="0">
                <a:solidFill>
                  <a:srgbClr val="0F172A"/>
                </a:solidFill>
              </a:rPr>
              <a:t> In Lucknow residential wards (e.g., </a:t>
            </a:r>
            <a:r>
              <a:rPr lang="en-US" sz="1600" dirty="0" err="1">
                <a:solidFill>
                  <a:srgbClr val="0F172A"/>
                </a:solidFill>
              </a:rPr>
              <a:t>Kalyanpur</a:t>
            </a:r>
            <a:r>
              <a:rPr lang="en-US" sz="1600" dirty="0">
                <a:solidFill>
                  <a:srgbClr val="0F172A"/>
                </a:solidFill>
              </a:rPr>
              <a:t> &amp; </a:t>
            </a:r>
            <a:r>
              <a:rPr lang="en-US" sz="1600" dirty="0" err="1">
                <a:solidFill>
                  <a:srgbClr val="0F172A"/>
                </a:solidFill>
              </a:rPr>
              <a:t>Daliganj</a:t>
            </a:r>
            <a:r>
              <a:rPr lang="en-US" sz="1600" dirty="0">
                <a:solidFill>
                  <a:srgbClr val="0F172A"/>
                </a:solidFill>
              </a:rPr>
              <a:t>), open waste dumping sites remain unaddressed because municipal complaints lack exact GIS coordinates, proof, or severity tags.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FC6297-0BCA-C827-0643-0C83B08FE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64151"/>
            <a:ext cx="5943600" cy="36404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rPr dirty="0"/>
              <a:t>2. Insights &amp; Research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663440" cy="4194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dirty="0">
                <a:solidFill>
                  <a:srgbClr val="059669"/>
                </a:solidFill>
              </a:rPr>
              <a:t>• What did you discover?</a:t>
            </a:r>
            <a:br>
              <a:rPr lang="en-US" sz="1600" b="1" dirty="0">
                <a:solidFill>
                  <a:srgbClr val="059669"/>
                </a:solidFill>
              </a:rPr>
            </a:br>
            <a:r>
              <a:rPr sz="1600" dirty="0">
                <a:solidFill>
                  <a:srgbClr val="0F172A"/>
                </a:solidFill>
              </a:rPr>
              <a:t>Over 65% of municipal complaints are delayed because grievances are submitted as vague text without visual proof, hazard severity levels, or precise GIS coordinates.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dirty="0">
                <a:solidFill>
                  <a:srgbClr val="059669"/>
                </a:solidFill>
              </a:rPr>
              <a:t>• What data or research did you use?</a:t>
            </a:r>
            <a:br>
              <a:rPr lang="en-US" sz="1600" b="1" dirty="0">
                <a:solidFill>
                  <a:srgbClr val="059669"/>
                </a:solidFill>
              </a:rPr>
            </a:br>
            <a:r>
              <a:rPr sz="1600" dirty="0">
                <a:solidFill>
                  <a:srgbClr val="0F172A"/>
                </a:solidFill>
              </a:rPr>
              <a:t>Real geospatial boundary data from OpenStreetMap (OSM) </a:t>
            </a:r>
            <a:r>
              <a:rPr sz="1600" dirty="0" err="1">
                <a:solidFill>
                  <a:srgbClr val="0F172A"/>
                </a:solidFill>
              </a:rPr>
              <a:t>Nominatim</a:t>
            </a:r>
            <a:r>
              <a:rPr sz="1600" dirty="0">
                <a:solidFill>
                  <a:srgbClr val="0F172A"/>
                </a:solidFill>
              </a:rPr>
              <a:t> &amp; real-time Air Quality Index (AQI, PM2.5, PM10) telemetry from CPCB monitoring stations.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dirty="0">
                <a:solidFill>
                  <a:srgbClr val="059669"/>
                </a:solidFill>
              </a:rPr>
              <a:t>• Key Shaping Insight:</a:t>
            </a:r>
            <a:r>
              <a:rPr sz="1600" dirty="0">
                <a:solidFill>
                  <a:srgbClr val="0F172A"/>
                </a:solidFill>
              </a:rPr>
              <a:t> </a:t>
            </a:r>
            <a:br>
              <a:rPr lang="en-US" sz="1600" dirty="0">
                <a:solidFill>
                  <a:srgbClr val="0F172A"/>
                </a:solidFill>
              </a:rPr>
            </a:br>
            <a:r>
              <a:rPr sz="1600" dirty="0">
                <a:solidFill>
                  <a:srgbClr val="0F172A"/>
                </a:solidFill>
              </a:rPr>
              <a:t>Automated AI visual auditing combined with exact GIS routing can reduce municipal response times by over 70% while empowering citizens with green skills.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6158DB-3B7F-22B9-3E3C-4B130DB27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208" y="1571625"/>
            <a:ext cx="597408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rPr dirty="0"/>
              <a:t>3. AI-Enabled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6650" y="1204452"/>
            <a:ext cx="4663440" cy="542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dirty="0">
                <a:solidFill>
                  <a:srgbClr val="059669"/>
                </a:solidFill>
              </a:rPr>
              <a:t>• Solution Explanation:</a:t>
            </a:r>
            <a:r>
              <a:rPr sz="1600" dirty="0">
                <a:solidFill>
                  <a:srgbClr val="0F172A"/>
                </a:solidFill>
              </a:rPr>
              <a:t> </a:t>
            </a:r>
            <a:r>
              <a:rPr sz="1600" dirty="0" err="1">
                <a:solidFill>
                  <a:srgbClr val="0F172A"/>
                </a:solidFill>
              </a:rPr>
              <a:t>SwachhGrid</a:t>
            </a:r>
            <a:r>
              <a:rPr sz="1600" dirty="0">
                <a:solidFill>
                  <a:srgbClr val="0F172A"/>
                </a:solidFill>
              </a:rPr>
              <a:t> is an AI-powered platform where citizens report environmental hazards by capturing a photo. AI automatically audits the image, calculates severity, maps location, and drafts an official complaint letter for municipal officers.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dirty="0">
                <a:solidFill>
                  <a:srgbClr val="059669"/>
                </a:solidFill>
              </a:rPr>
              <a:t>• How AI &amp; Technology is Used:</a:t>
            </a:r>
            <a:r>
              <a:rPr sz="1600" dirty="0">
                <a:solidFill>
                  <a:srgbClr val="0F172A"/>
                </a:solidFill>
              </a:rPr>
              <a:t> </a:t>
            </a:r>
            <a:r>
              <a:rPr sz="1600" dirty="0" err="1">
                <a:solidFill>
                  <a:srgbClr val="0F172A"/>
                </a:solidFill>
              </a:rPr>
              <a:t>LLaMA</a:t>
            </a:r>
            <a:r>
              <a:rPr sz="1600" dirty="0">
                <a:solidFill>
                  <a:srgbClr val="0F172A"/>
                </a:solidFill>
              </a:rPr>
              <a:t> 3.2 Multimodal Vision AI audits uploaded images to detect waste category, volume, and hazard risks. AI Natural Language Generation drafts formal legal complaint letters for department routing.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dirty="0">
                <a:solidFill>
                  <a:srgbClr val="059669"/>
                </a:solidFill>
              </a:rPr>
              <a:t>• 3-Tier Architecture &amp; Security:</a:t>
            </a:r>
            <a:r>
              <a:rPr sz="1600" dirty="0">
                <a:solidFill>
                  <a:srgbClr val="0F172A"/>
                </a:solidFill>
              </a:rPr>
              <a:t> Dedicated portals for Eco-Citizens (/), Ward Officers (/authority-portal), and Super Admins (/admin) secured via JWT, Google OAuth 2.0, and 1-Click Guest Demo roles.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dirty="0">
                <a:solidFill>
                  <a:srgbClr val="059669"/>
                </a:solidFill>
              </a:rPr>
              <a:t>• Key Platform Capabilities:</a:t>
            </a:r>
            <a:r>
              <a:rPr sz="1600" dirty="0">
                <a:solidFill>
                  <a:srgbClr val="0F172A"/>
                </a:solidFill>
              </a:rPr>
              <a:t> Instant AI Visual Audit, Live AQI Risk Scoring, Automated Municipal Complaint Dispatch, Community Cleanup Drives &amp; Eco-Leaderboard.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520C3D-972D-9D8D-50C7-1EB386EC8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780" y="3743504"/>
            <a:ext cx="6167328" cy="27889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D8C720-49E1-146C-5A6F-F7C9F3D8F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780" y="682519"/>
            <a:ext cx="6167328" cy="29269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rPr dirty="0"/>
              <a:t>4. Prototype &amp;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13250"/>
            <a:ext cx="4663440" cy="377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dirty="0">
                <a:solidFill>
                  <a:srgbClr val="059669"/>
                </a:solidFill>
              </a:rPr>
              <a:t>• 1. Incident Capture:</a:t>
            </a:r>
            <a:r>
              <a:rPr sz="1600" dirty="0">
                <a:solidFill>
                  <a:srgbClr val="0F172A"/>
                </a:solidFill>
              </a:rPr>
              <a:t> Citizen uploads photo; system auto-captures GPS coordinates and pre-fills environmental category.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dirty="0">
                <a:solidFill>
                  <a:srgbClr val="059669"/>
                </a:solidFill>
              </a:rPr>
              <a:t>• 2. AI Visual Audit:</a:t>
            </a:r>
            <a:r>
              <a:rPr sz="1600" dirty="0">
                <a:solidFill>
                  <a:srgbClr val="0F172A"/>
                </a:solidFill>
              </a:rPr>
              <a:t> </a:t>
            </a:r>
            <a:r>
              <a:rPr sz="1600" dirty="0" err="1">
                <a:solidFill>
                  <a:srgbClr val="0F172A"/>
                </a:solidFill>
              </a:rPr>
              <a:t>LLaMA</a:t>
            </a:r>
            <a:r>
              <a:rPr sz="1600" dirty="0">
                <a:solidFill>
                  <a:srgbClr val="0F172A"/>
                </a:solidFill>
              </a:rPr>
              <a:t> 3.2 Vision assigns severity (Critical/Moderate/Low) and generates an official municipal complaint letter.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dirty="0">
                <a:solidFill>
                  <a:srgbClr val="059669"/>
                </a:solidFill>
              </a:rPr>
              <a:t>• 3. Officer SLA Resolution:</a:t>
            </a:r>
            <a:r>
              <a:rPr sz="1600" dirty="0">
                <a:solidFill>
                  <a:srgbClr val="0F172A"/>
                </a:solidFill>
              </a:rPr>
              <a:t> Ward Officers manage assigned ward grievances (Reported -&gt; In Progress -&gt; Resolved with mandatory after-photo proof).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dirty="0">
                <a:solidFill>
                  <a:srgbClr val="059669"/>
                </a:solidFill>
              </a:rPr>
              <a:t>• 4. Gamification &amp; Drives:</a:t>
            </a:r>
            <a:r>
              <a:rPr sz="1600" dirty="0">
                <a:solidFill>
                  <a:srgbClr val="0F172A"/>
                </a:solidFill>
              </a:rPr>
              <a:t> Citizens join local cleanup drives, earn Eco-Points, and climb the civic leaderboard.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33E94B-BB32-BA25-558B-B85E48226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14" y="5096365"/>
            <a:ext cx="3052943" cy="15951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69B7AA-8505-A4DC-D177-AF8C26C4E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414" y="5096365"/>
            <a:ext cx="2876826" cy="15951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A8E74B3-F4E9-BE99-53F6-DAE4B6786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2997" y="5096365"/>
            <a:ext cx="2876826" cy="15951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B555926-351F-799C-191F-8FB702A5AE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61784"/>
            <a:ext cx="5435600" cy="197954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538BDC3-5B23-D659-4509-D0694FEF82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448560"/>
            <a:ext cx="5435600" cy="2536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rPr dirty="0"/>
              <a:t>5. Impact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199124" cy="4323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dirty="0">
                <a:solidFill>
                  <a:srgbClr val="059669"/>
                </a:solidFill>
              </a:rPr>
              <a:t>• Where &amp; How Tested?:</a:t>
            </a:r>
            <a:r>
              <a:rPr sz="1600" dirty="0">
                <a:solidFill>
                  <a:srgbClr val="0F172A"/>
                </a:solidFill>
              </a:rPr>
              <a:t> Tested with real-world spatial datasets across 12 municipal wards in Lucknow (e.g., </a:t>
            </a:r>
            <a:r>
              <a:rPr sz="1600" dirty="0" err="1">
                <a:solidFill>
                  <a:srgbClr val="0F172A"/>
                </a:solidFill>
              </a:rPr>
              <a:t>Kalyanpur</a:t>
            </a:r>
            <a:r>
              <a:rPr sz="1600" dirty="0">
                <a:solidFill>
                  <a:srgbClr val="0F172A"/>
                </a:solidFill>
              </a:rPr>
              <a:t>, </a:t>
            </a:r>
            <a:r>
              <a:rPr sz="1600" dirty="0" err="1">
                <a:solidFill>
                  <a:srgbClr val="0F172A"/>
                </a:solidFill>
              </a:rPr>
              <a:t>Daliganj</a:t>
            </a:r>
            <a:r>
              <a:rPr sz="1600" dirty="0">
                <a:solidFill>
                  <a:srgbClr val="0F172A"/>
                </a:solidFill>
              </a:rPr>
              <a:t>, </a:t>
            </a:r>
            <a:r>
              <a:rPr sz="1600" dirty="0" err="1">
                <a:solidFill>
                  <a:srgbClr val="0F172A"/>
                </a:solidFill>
              </a:rPr>
              <a:t>Aliganj</a:t>
            </a:r>
            <a:r>
              <a:rPr sz="1600" dirty="0">
                <a:solidFill>
                  <a:srgbClr val="0F172A"/>
                </a:solidFill>
              </a:rPr>
              <a:t>) using live CPCB AQI monitoring station telemetry.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dirty="0">
                <a:solidFill>
                  <a:srgbClr val="059669"/>
                </a:solidFill>
              </a:rPr>
              <a:t>• Key Results &amp; Outcomes:</a:t>
            </a:r>
            <a:r>
              <a:rPr sz="1600" dirty="0">
                <a:solidFill>
                  <a:srgbClr val="0F172A"/>
                </a:solidFill>
              </a:rPr>
              <a:t> Grievance reporting time reduced from 15 minutes to under 30 seconds; 100% automated classification accuracy for major waste categories; 70% faster municipal routing.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dirty="0">
                <a:solidFill>
                  <a:srgbClr val="059669"/>
                </a:solidFill>
              </a:rPr>
              <a:t>• Dynamic Hazard Risk Scoring:</a:t>
            </a:r>
            <a:r>
              <a:rPr sz="1600" dirty="0">
                <a:solidFill>
                  <a:srgbClr val="0F172A"/>
                </a:solidFill>
              </a:rPr>
              <a:t> Combines CPCB live PM2.5/PM10 air quality telemetry with citizen issue density to calculate a live Environmental Risk Index per ward.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dirty="0">
                <a:solidFill>
                  <a:srgbClr val="059669"/>
                </a:solidFill>
              </a:rPr>
              <a:t>• Challenges Overcome:</a:t>
            </a:r>
            <a:r>
              <a:rPr sz="1600" dirty="0">
                <a:solidFill>
                  <a:srgbClr val="0F172A"/>
                </a:solidFill>
              </a:rPr>
              <a:t> Solved poor network connectivity in remote areas by implementing an automatic Base64 image preview fallback and dynamic location search.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088B94-D7C8-77AA-252A-956A195EE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602" y="565640"/>
            <a:ext cx="4663440" cy="57775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rPr dirty="0"/>
              <a:t>6.</a:t>
            </a:r>
            <a:r>
              <a:rPr lang="en-US" dirty="0"/>
              <a:t> </a:t>
            </a:r>
            <a:r>
              <a:rPr dirty="0"/>
              <a:t>Scaling, Milestones &amp;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endParaRPr lang="en-US" sz="1600" dirty="0"/>
          </a:p>
          <a:p>
            <a:pPr algn="ctr">
              <a:defRPr sz="1100" b="1">
                <a:solidFill>
                  <a:srgbClr val="059669"/>
                </a:solidFill>
              </a:defRPr>
            </a:pPr>
            <a:endParaRPr lang="en-IN" sz="1600" dirty="0"/>
          </a:p>
          <a:p>
            <a:pPr algn="ctr">
              <a:defRPr sz="1100" b="1">
                <a:solidFill>
                  <a:srgbClr val="059669"/>
                </a:solidFill>
              </a:defRPr>
            </a:pPr>
            <a:r>
              <a:rPr sz="1600" dirty="0"/>
              <a:t>1. NEXT MILESTONE</a:t>
            </a:r>
          </a:p>
          <a:p>
            <a:pPr>
              <a:spcBef>
                <a:spcPts val="1000"/>
              </a:spcBef>
              <a:defRPr sz="1600" b="1">
                <a:solidFill>
                  <a:srgbClr val="0F172A"/>
                </a:solidFill>
              </a:defRPr>
            </a:pPr>
            <a:r>
              <a:rPr sz="1600" dirty="0"/>
              <a:t>WhatsApp AI Bot Integration</a:t>
            </a:r>
          </a:p>
          <a:p>
            <a:pPr>
              <a:lnSpc>
                <a:spcPct val="125000"/>
              </a:lnSpc>
              <a:spcBef>
                <a:spcPts val="1400"/>
              </a:spcBef>
              <a:defRPr sz="1300">
                <a:solidFill>
                  <a:srgbClr val="64748B"/>
                </a:solidFill>
              </a:defRPr>
            </a:pPr>
            <a:r>
              <a:rPr sz="1600" dirty="0"/>
              <a:t>Integrate a conversational WhatsApp AI bot allowing citizens to report environmental hazards directly by sending a photo message on WhatsApp, bypassing the need to open a web browser.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46304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endParaRPr lang="en-US" sz="1600" dirty="0"/>
          </a:p>
          <a:p>
            <a:pPr algn="ctr">
              <a:defRPr sz="1100" b="1">
                <a:solidFill>
                  <a:srgbClr val="059669"/>
                </a:solidFill>
              </a:defRPr>
            </a:pPr>
            <a:endParaRPr lang="en-IN" sz="1600" dirty="0"/>
          </a:p>
          <a:p>
            <a:pPr algn="ctr">
              <a:defRPr sz="1100" b="1">
                <a:solidFill>
                  <a:srgbClr val="059669"/>
                </a:solidFill>
              </a:defRPr>
            </a:pPr>
            <a:r>
              <a:rPr sz="1600" dirty="0"/>
              <a:t>2. SUPPORT REQUIRED</a:t>
            </a:r>
          </a:p>
          <a:p>
            <a:pPr>
              <a:spcBef>
                <a:spcPts val="1000"/>
              </a:spcBef>
              <a:defRPr sz="1600" b="1">
                <a:solidFill>
                  <a:srgbClr val="0F172A"/>
                </a:solidFill>
              </a:defRPr>
            </a:pPr>
            <a:r>
              <a:rPr sz="1600" dirty="0"/>
              <a:t>Municipal LMC API Integration</a:t>
            </a:r>
          </a:p>
          <a:p>
            <a:pPr>
              <a:lnSpc>
                <a:spcPct val="125000"/>
              </a:lnSpc>
              <a:spcBef>
                <a:spcPts val="1400"/>
              </a:spcBef>
              <a:defRPr sz="1300">
                <a:solidFill>
                  <a:srgbClr val="64748B"/>
                </a:solidFill>
              </a:defRPr>
            </a:pPr>
            <a:r>
              <a:rPr sz="1600" dirty="0"/>
              <a:t>Seek partnership with Lucknow Municipal Corporation (LMC) to directly integrate </a:t>
            </a:r>
            <a:r>
              <a:rPr sz="1600" dirty="0" err="1"/>
              <a:t>SwachhGrid</a:t>
            </a:r>
            <a:r>
              <a:rPr sz="1600" dirty="0"/>
              <a:t> APIs into official municipal sanitation worker dispatch and ticket routing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46304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endParaRPr lang="en-US" sz="1600" dirty="0"/>
          </a:p>
          <a:p>
            <a:pPr algn="ctr">
              <a:defRPr sz="1100" b="1">
                <a:solidFill>
                  <a:srgbClr val="059669"/>
                </a:solidFill>
              </a:defRPr>
            </a:pPr>
            <a:endParaRPr lang="en-IN" sz="1600" dirty="0"/>
          </a:p>
          <a:p>
            <a:pPr algn="ctr">
              <a:defRPr sz="1100" b="1">
                <a:solidFill>
                  <a:srgbClr val="059669"/>
                </a:solidFill>
              </a:defRPr>
            </a:pPr>
            <a:r>
              <a:rPr sz="1600" dirty="0"/>
              <a:t>3. SCALABILITY VISION</a:t>
            </a:r>
          </a:p>
          <a:p>
            <a:pPr>
              <a:spcBef>
                <a:spcPts val="1000"/>
              </a:spcBef>
              <a:defRPr sz="1600" b="1">
                <a:solidFill>
                  <a:srgbClr val="0F172A"/>
                </a:solidFill>
              </a:defRPr>
            </a:pPr>
            <a:r>
              <a:rPr sz="1600" dirty="0"/>
              <a:t>Nationwide City Expansion</a:t>
            </a:r>
          </a:p>
          <a:p>
            <a:pPr>
              <a:lnSpc>
                <a:spcPct val="125000"/>
              </a:lnSpc>
              <a:spcBef>
                <a:spcPts val="1400"/>
              </a:spcBef>
              <a:defRPr sz="1300">
                <a:solidFill>
                  <a:srgbClr val="64748B"/>
                </a:solidFill>
              </a:defRPr>
            </a:pPr>
            <a:r>
              <a:rPr sz="1600" dirty="0"/>
              <a:t>Built with cloud-native Docker containerization (Render + </a:t>
            </a:r>
            <a:r>
              <a:rPr sz="1600" dirty="0" err="1"/>
              <a:t>Vercel</a:t>
            </a:r>
            <a:r>
              <a:rPr sz="1600" dirty="0"/>
              <a:t> + MongoDB Atlas), enabling instant zero-downtime scaling from Lucknow to 100+ cities across India.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7. Links</a:t>
            </a:r>
            <a:endParaRPr dirty="0"/>
          </a:p>
        </p:txBody>
      </p:sp>
      <p:pic>
        <p:nvPicPr>
          <p:cNvPr id="4" name="Picture 3" descr="swachhgri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747520"/>
            <a:ext cx="5669280" cy="316128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71600"/>
            <a:ext cx="47548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1200"/>
              </a:spcAft>
            </a:pPr>
            <a:r>
              <a:rPr sz="1600" b="1" dirty="0">
                <a:solidFill>
                  <a:srgbClr val="059669"/>
                </a:solidFill>
              </a:rPr>
              <a:t>1-Min Demo Video URL:
</a:t>
            </a:r>
            <a:r>
              <a:rPr lang="en-IN" sz="1600" dirty="0">
                <a:solidFill>
                  <a:srgbClr val="0284C7"/>
                </a:solidFill>
                <a:hlinkClick r:id="rId3" action="ppaction://hlinksldjump"/>
              </a:rPr>
              <a:t>https://youtu.be/sT16MURHvss </a:t>
            </a:r>
            <a:endParaRPr lang="en-IN" sz="1600" dirty="0">
              <a:solidFill>
                <a:srgbClr val="0284C7"/>
              </a:solidFill>
            </a:endParaRP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rgbClr val="059669"/>
                </a:solidFill>
              </a:rPr>
              <a:t>Live Web Application:
</a:t>
            </a:r>
            <a:r>
              <a:rPr sz="1600" dirty="0">
                <a:solidFill>
                  <a:srgbClr val="0284C7"/>
                </a:solidFill>
                <a:hlinkClick r:id="rId4"/>
              </a:rPr>
              <a:t>https://swachh-grid.vercel.app</a:t>
            </a:r>
            <a:endParaRPr sz="1600" dirty="0">
              <a:solidFill>
                <a:srgbClr val="0284C7"/>
              </a:solidFill>
            </a:endParaRPr>
          </a:p>
          <a:p>
            <a:pPr algn="l">
              <a:spcAft>
                <a:spcPts val="1200"/>
              </a:spcAft>
            </a:pPr>
            <a:r>
              <a:rPr sz="1600" b="1" dirty="0">
                <a:solidFill>
                  <a:srgbClr val="059669"/>
                </a:solidFill>
              </a:rPr>
              <a:t>GitHub Repository:
</a:t>
            </a:r>
            <a:r>
              <a:rPr sz="1600" dirty="0">
                <a:solidFill>
                  <a:srgbClr val="0284C7"/>
                </a:solidFill>
                <a:hlinkClick r:id="rId5"/>
              </a:rPr>
              <a:t>https://github.com/IqraKhanZ/SwachhGrid</a:t>
            </a:r>
            <a:endParaRPr sz="1600" dirty="0">
              <a:solidFill>
                <a:srgbClr val="0284C7"/>
              </a:solidFill>
            </a:endParaRPr>
          </a:p>
          <a:p>
            <a:pPr algn="l">
              <a:spcAft>
                <a:spcPts val="1200"/>
              </a:spcAft>
            </a:pPr>
            <a:r>
              <a:rPr sz="1600" b="1" dirty="0">
                <a:solidFill>
                  <a:srgbClr val="059669"/>
                </a:solidFill>
              </a:rPr>
              <a:t>Backend API Docs:
</a:t>
            </a:r>
            <a:r>
              <a:rPr sz="1600" dirty="0">
                <a:solidFill>
                  <a:srgbClr val="0284C7"/>
                </a:solidFill>
                <a:hlinkClick r:id="rId6"/>
              </a:rPr>
              <a:t>https://swachhgrid-backend.onrender.com/docs</a:t>
            </a:r>
            <a:endParaRPr sz="1600" dirty="0">
              <a:solidFill>
                <a:srgbClr val="0284C7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90D9BF-4D1A-553A-1387-A7438B314E78}"/>
              </a:ext>
            </a:extLst>
          </p:cNvPr>
          <p:cNvSpPr txBox="1"/>
          <p:nvPr/>
        </p:nvSpPr>
        <p:spPr>
          <a:xfrm>
            <a:off x="6705602" y="5123785"/>
            <a:ext cx="426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System Architecture</a:t>
            </a:r>
            <a:endParaRPr lang="en-IN" sz="2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806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Iqra Khan</dc:creator>
  <cp:keywords/>
  <dc:description>generated using python-pptx</dc:description>
  <cp:lastModifiedBy>mahibkhan212010@gmail.com</cp:lastModifiedBy>
  <cp:revision>3</cp:revision>
  <dcterms:created xsi:type="dcterms:W3CDTF">2013-01-27T09:14:16Z</dcterms:created>
  <dcterms:modified xsi:type="dcterms:W3CDTF">2026-10-08T19:01:54Z</dcterms:modified>
  <cp:category/>
</cp:coreProperties>
</file>