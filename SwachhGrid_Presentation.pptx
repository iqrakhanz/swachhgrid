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22C55E"/>
                </a:solidFill>
              </a:defRPr>
            </a:pPr>
            <a:r>
              <a:t>SWACHHGRID</a:t>
            </a:r>
          </a:p>
          <a:p>
            <a:pPr algn="ctr">
              <a:spcBef>
                <a:spcPts val="1400"/>
              </a:spcBef>
              <a:defRPr sz="2200" b="1">
                <a:solidFill>
                  <a:srgbClr val="F8FAFC"/>
                </a:solidFill>
              </a:defRPr>
            </a:pPr>
            <a:r>
              <a:t>AI-Powered Community Environmental Auditing &amp; Civic Action Grid</a:t>
            </a:r>
          </a:p>
          <a:p>
            <a:pPr algn="ctr"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Empowering citizens with AI visual auditing to build cleaner, greener, and safer municipal wards.</a:t>
            </a:r>
          </a:p>
          <a:p>
            <a:pPr algn="ctr">
              <a:spcBef>
                <a:spcPts val="2000"/>
              </a:spcBef>
              <a:defRPr sz="1300" b="1">
                <a:solidFill>
                  <a:srgbClr val="06B6D4"/>
                </a:solidFill>
              </a:defRPr>
            </a:pPr>
            <a:r>
              <a:t>Powered by IBM Bob | FastAPI | React | LLaMA 3.2 Vision | MongoDB 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SwachhGrid — AI Environmental Grid | Slide 1 of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The Crisis in Urban Environmental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Illegal Waste Accumulation:</a:t>
            </a:r>
            <a:r>
              <a:rPr sz="1600">
                <a:solidFill>
                  <a:srgbClr val="F8FAFC"/>
                </a:solidFill>
              </a:rPr>
              <a:t> Over 65% of urban waste suffers from delayed clearance, creating severe public health hazards and pest breeding grounds.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Unmonitored Hotspots:</a:t>
            </a:r>
            <a:r>
              <a:rPr sz="1600">
                <a:solidFill>
                  <a:srgbClr val="F8FAFC"/>
                </a:solidFill>
              </a:rPr>
              <a:t> Municipal bodies lack real-time visibility into localized environmental issues such as open garbage dumping, sewage leakage, and industrial smoke.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High Friction Reporting:</a:t>
            </a:r>
            <a:r>
              <a:rPr sz="1600">
                <a:solidFill>
                  <a:srgbClr val="F8FAFC"/>
                </a:solidFill>
              </a:rPr>
              <a:t> Citizens face tedious, bureaucratic manual complaint processes with zero transparency or status tracking.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Unstructured Grievances:</a:t>
            </a:r>
            <a:r>
              <a:rPr sz="1600">
                <a:solidFill>
                  <a:srgbClr val="F8FAFC"/>
                </a:solidFill>
              </a:rPr>
              <a:t> Authorities are flooded with vague complaints lacking actionable GPS coordinates, image proof, or severity classification.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SwachhGrid — AI Environmental Grid | Slide 2 of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SwachhGrid — Intelligent Civic Action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Automated AI Visual Audit:</a:t>
            </a:r>
            <a:r>
              <a:rPr sz="1600">
                <a:solidFill>
                  <a:srgbClr val="F8FAFC"/>
                </a:solidFill>
              </a:rPr>
              <a:t> Citizens capture images of environmental hazards; AI instantly detects waste type, severity level (Critical/Moderate/Low), and hazardous risks.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Live GIS Environmental Grid:</a:t>
            </a:r>
            <a:r>
              <a:rPr sz="1600">
                <a:solidFill>
                  <a:srgbClr val="F8FAFC"/>
                </a:solidFill>
              </a:rPr>
              <a:t> Interactive ward-level map displaying real-time issue pins and Air Quality Index (AQI) telemetry from CPCB monitoring stations.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Official Municipal Escalation:</a:t>
            </a:r>
            <a:r>
              <a:rPr sz="1600">
                <a:solidFill>
                  <a:srgbClr val="F8FAFC"/>
                </a:solidFill>
              </a:rPr>
              <a:t> Automatically formats AI audit telemetry into formal legal complaint letters dispatched directly to municipal ward officers.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Community Actions &amp; Gamification:</a:t>
            </a:r>
            <a:r>
              <a:rPr sz="1600">
                <a:solidFill>
                  <a:srgbClr val="F8FAFC"/>
                </a:solidFill>
              </a:rPr>
              <a:t> Citizens organize local cleanup drives, earn green points, and climb the civic leaderboard.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SwachhGrid — AI Environmental Grid | Slide 3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Modern Full-Stack Cloud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Frontend Layer:</a:t>
            </a:r>
            <a:r>
              <a:rPr sz="1600">
                <a:solidFill>
                  <a:srgbClr val="F8FAFC"/>
                </a:solidFill>
              </a:rPr>
              <a:t> React 18, Vite, Tailwind CSS, Leaflet Maps, Lucide UI Icons (Hosted on Vercel CDN).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Backend API Engine:</a:t>
            </a:r>
            <a:r>
              <a:rPr sz="1600">
                <a:solidFill>
                  <a:srgbClr val="F8FAFC"/>
                </a:solidFill>
              </a:rPr>
              <a:t> Python 3.11, FastAPI (Asynchronous), Pydantic validation (Hosted on Render Docker Containers).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AI &amp; Vision Pipeline:</a:t>
            </a:r>
            <a:r>
              <a:rPr sz="1600">
                <a:solidFill>
                  <a:srgbClr val="F8FAFC"/>
                </a:solidFill>
              </a:rPr>
              <a:t> LLaMA 3.2 Vision Model for real-time image analysis &amp; natural language complaint generation.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Database &amp; GIS Data:</a:t>
            </a:r>
            <a:r>
              <a:rPr sz="1600">
                <a:solidFill>
                  <a:srgbClr val="F8FAFC"/>
                </a:solidFill>
              </a:rPr>
              <a:t> MongoDB Atlas Cloud Cluster, OpenStreetMap Nominatim GIS, Central Pollution Control Board (CPCB) AQI data.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Development Accelerator:</a:t>
            </a:r>
            <a:r>
              <a:rPr sz="1600">
                <a:solidFill>
                  <a:srgbClr val="F8FAFC"/>
                </a:solidFill>
              </a:rPr>
              <a:t> IBM Bob AI Assistant for full-stack scaffolding, prompt engineering, and deployment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SwachhGrid — AI Environmental Grid | Slide 4 of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alibri"/>
              </a:defRPr>
            </a:pPr>
            <a:r>
              <a:t>LIVE APPLICATION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Live GIS Environmental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400">
                <a:solidFill>
                  <a:srgbClr val="22C55E"/>
                </a:solidFill>
              </a:rPr>
              <a:t>• Geospatial Issue Mapping:</a:t>
            </a:r>
            <a:r>
              <a:rPr sz="1400">
                <a:solidFill>
                  <a:srgbClr val="F8FAFC"/>
                </a:solidFill>
              </a:rPr>
              <a:t> Displays verified environmental issues across Lucknow municipal wards with color-coded severity markers (Red = Critical, Yellow = Moderate, Green = Resolved).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400">
                <a:solidFill>
                  <a:srgbClr val="22C55E"/>
                </a:solidFill>
              </a:rPr>
              <a:t>• Single-Click Filtering:</a:t>
            </a:r>
            <a:r>
              <a:rPr sz="1400">
                <a:solidFill>
                  <a:srgbClr val="F8FAFC"/>
                </a:solidFill>
              </a:rPr>
              <a:t> Filter issues by category (Solid Waste, Sewage, Air Pollution, Hazardous Waste) or by resolution status.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400">
                <a:solidFill>
                  <a:srgbClr val="22C55E"/>
                </a:solidFill>
              </a:rPr>
              <a:t>• Instant Action Hub:</a:t>
            </a:r>
            <a:r>
              <a:rPr sz="1400">
                <a:solidFill>
                  <a:srgbClr val="F8FAFC"/>
                </a:solidFill>
              </a:rPr>
              <a:t> Quick navigation to report issues, join cleanup drives, or view ward rankings.</a:t>
            </a:r>
          </a:p>
        </p:txBody>
      </p:sp>
      <p:pic>
        <p:nvPicPr>
          <p:cNvPr id="5" name="Picture 4" descr="slide_05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"/>
            <a:ext cx="5943600" cy="3714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SwachhGrid — AI Environmental Grid | Slide 5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alibri"/>
              </a:defRPr>
            </a:pPr>
            <a:r>
              <a:t>GIS &amp; REAL-TIME OPEN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Live Air Quality &amp; Environmental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CPCB Station Integration:</a:t>
            </a:r>
            <a:r>
              <a:rPr sz="1600">
                <a:solidFill>
                  <a:srgbClr val="F8FAFC"/>
                </a:solidFill>
              </a:rPr>
              <a:t> Fetches live Air Quality Index (AQI), PM2.5, PM10, and NO2 metrics across monitoring stations (e.g., Talkatora, Lalbagh, Kendriya Vidyalaya).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Dynamic Hazard Scoring:</a:t>
            </a:r>
            <a:r>
              <a:rPr sz="1600">
                <a:solidFill>
                  <a:srgbClr val="F8FAFC"/>
                </a:solidFill>
              </a:rPr>
              <a:t> Combines AQI telemetry with citizen issue density to calculate a live Environmental Risk Index per ward.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Public Transparency:</a:t>
            </a:r>
            <a:r>
              <a:rPr sz="1600">
                <a:solidFill>
                  <a:srgbClr val="F8FAFC"/>
                </a:solidFill>
              </a:rPr>
              <a:t> Provides citizens and officers with immediate environmental health insights for their immediate neighborhood.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SwachhGrid — AI Environmental Grid | Slide 6 of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alibri"/>
              </a:defRPr>
            </a:pPr>
            <a:r>
              <a:t>AI FEATURE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Instant AI-Powered Incident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400">
                <a:solidFill>
                  <a:srgbClr val="22C55E"/>
                </a:solidFill>
              </a:rPr>
              <a:t>• Seamless Media Upload:</a:t>
            </a:r>
            <a:r>
              <a:rPr sz="1400">
                <a:solidFill>
                  <a:srgbClr val="F8FAFC"/>
                </a:solidFill>
              </a:rPr>
              <a:t> Citizens upload or capture a photo of the environmental hazard via phone or desktop.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400">
                <a:solidFill>
                  <a:srgbClr val="22C55E"/>
                </a:solidFill>
              </a:rPr>
              <a:t>• Automated Geolocation:</a:t>
            </a:r>
            <a:r>
              <a:rPr sz="1400">
                <a:solidFill>
                  <a:srgbClr val="F8FAFC"/>
                </a:solidFill>
              </a:rPr>
              <a:t> Captures exact GPS coordinates and maps the issue to the correct municipal ward automatically.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400">
                <a:solidFill>
                  <a:srgbClr val="22C55E"/>
                </a:solidFill>
              </a:rPr>
              <a:t>• Real-Time Classification:</a:t>
            </a:r>
            <a:r>
              <a:rPr sz="1400">
                <a:solidFill>
                  <a:srgbClr val="F8FAFC"/>
                </a:solidFill>
              </a:rPr>
              <a:t> AI vision model processes the image in seconds, pre-filling hazard category, estimated volume, and urgency level.</a:t>
            </a:r>
          </a:p>
        </p:txBody>
      </p:sp>
      <p:pic>
        <p:nvPicPr>
          <p:cNvPr id="5" name="Picture 4" descr="slide_07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"/>
            <a:ext cx="5943600" cy="3714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SwachhGrid — AI Environmental Grid | Slide 7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alibri"/>
              </a:defRPr>
            </a:pPr>
            <a:r>
              <a:t>MULTIMODAL AI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Deep-Dive AI Diagnostic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400">
                <a:solidFill>
                  <a:srgbClr val="22C55E"/>
                </a:solidFill>
              </a:rPr>
              <a:t>• Automated Severity Assessment:</a:t>
            </a:r>
            <a:r>
              <a:rPr sz="1400">
                <a:solidFill>
                  <a:srgbClr val="F8FAFC"/>
                </a:solidFill>
              </a:rPr>
              <a:t> Classifies risk into Critical (immediate health hazard), Moderate, or Low based on visual density and proximity to water/residential areas.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400">
                <a:solidFill>
                  <a:srgbClr val="22C55E"/>
                </a:solidFill>
              </a:rPr>
              <a:t>• Hazard Risk Tags:</a:t>
            </a:r>
            <a:r>
              <a:rPr sz="1400">
                <a:solidFill>
                  <a:srgbClr val="F8FAFC"/>
                </a:solidFill>
              </a:rPr>
              <a:t> Tags specific hazards like bio-medical risk, fire hazard, or water contamination potential.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400">
                <a:solidFill>
                  <a:srgbClr val="22C55E"/>
                </a:solidFill>
              </a:rPr>
              <a:t>• Transparent Audit History:</a:t>
            </a:r>
            <a:r>
              <a:rPr sz="1400">
                <a:solidFill>
                  <a:srgbClr val="F8FAFC"/>
                </a:solidFill>
              </a:rPr>
              <a:t> Displays timestamps, reporter identity, upvotes, and verification status.</a:t>
            </a:r>
          </a:p>
        </p:txBody>
      </p:sp>
      <p:pic>
        <p:nvPicPr>
          <p:cNvPr id="5" name="Picture 4" descr="slide_08_issue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"/>
            <a:ext cx="5943600" cy="3714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SwachhGrid — AI Environmental Grid | Slide 8 of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alibri"/>
              </a:defRPr>
            </a:pPr>
            <a:r>
              <a:t>AUTOMATED CIVIC ESCALATION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Legal-Grade Municipal Letter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Automated Letter Drafting:</a:t>
            </a:r>
            <a:r>
              <a:rPr sz="1600">
                <a:solidFill>
                  <a:srgbClr val="F8FAFC"/>
                </a:solidFill>
              </a:rPr>
              <a:t> Converts raw image telemetry and GPS coordinates into an official, legally structured municipal complaint letter.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Department Routing:</a:t>
            </a:r>
            <a:r>
              <a:rPr sz="1600">
                <a:solidFill>
                  <a:srgbClr val="F8FAFC"/>
                </a:solidFill>
              </a:rPr>
              <a:t> Automatically identifies the responsible municipal department (e.g., Lucknow Municipal Corporation Sanitation Dept) and recipient email.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Automated Dispatch:</a:t>
            </a:r>
            <a:r>
              <a:rPr sz="1600">
                <a:solidFill>
                  <a:srgbClr val="F8FAFC"/>
                </a:solidFill>
              </a:rPr>
              <a:t> Dispatches the letter via SendGrid API and logs delivery confirmation on the issue timeline.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SwachhGrid — AI Environmental Grid | Slide 9 of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alibri"/>
              </a:defRPr>
            </a:pPr>
            <a:r>
              <a:t>MUNICIPAL OFFICER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Empowering Municipal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Role-Based Admin Panel:</a:t>
            </a:r>
            <a:r>
              <a:rPr sz="1600">
                <a:solidFill>
                  <a:srgbClr val="F8FAFC"/>
                </a:solidFill>
              </a:rPr>
              <a:t> Dedicated interface for Ward Officers (e.g., Kalyanpur Ward, Daliganj Ward) to manage incoming grievances.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Status Lifecycle Management:</a:t>
            </a:r>
            <a:r>
              <a:rPr sz="1600">
                <a:solidFill>
                  <a:srgbClr val="F8FAFC"/>
                </a:solidFill>
              </a:rPr>
              <a:t> Officers update issue progress in real time (Reported -&gt; Under Investigation -&gt; In Progress -&gt; Resolved).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Verification Proof:</a:t>
            </a:r>
            <a:r>
              <a:rPr sz="1600">
                <a:solidFill>
                  <a:srgbClr val="F8FAFC"/>
                </a:solidFill>
              </a:rPr>
              <a:t> Officers upload post-cleanup resolution photos to close issues transparently.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SwachhGrid — AI Environmental Grid | Slide 10 of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alibri"/>
              </a:defRPr>
            </a:pPr>
            <a:r>
              <a:t>COMMUNITY &amp; GAMIFICATION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Driving Citizen Engagement &amp; Gamification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400">
                <a:solidFill>
                  <a:srgbClr val="22C55E"/>
                </a:solidFill>
              </a:rPr>
              <a:t>• Community Cleanup Drives:</a:t>
            </a:r>
            <a:r>
              <a:rPr sz="1400">
                <a:solidFill>
                  <a:srgbClr val="F8FAFC"/>
                </a:solidFill>
              </a:rPr>
              <a:t> Citizens create or join local volunteer drives for neighborhood waste collection and tree planting.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400">
                <a:solidFill>
                  <a:srgbClr val="22C55E"/>
                </a:solidFill>
              </a:rPr>
              <a:t>• Eco-Points &amp; Badges:</a:t>
            </a:r>
            <a:r>
              <a:rPr sz="1400">
                <a:solidFill>
                  <a:srgbClr val="F8FAFC"/>
                </a:solidFill>
              </a:rPr>
              <a:t> Earn points for reporting valid issues, upvoting grievances, and participating in cleanup events.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400">
                <a:solidFill>
                  <a:srgbClr val="22C55E"/>
                </a:solidFill>
              </a:rPr>
              <a:t>• Civic Leaderboard:</a:t>
            </a:r>
            <a:r>
              <a:rPr sz="1400">
                <a:solidFill>
                  <a:srgbClr val="F8FAFC"/>
                </a:solidFill>
              </a:rPr>
              <a:t> Highlights top individual Eco-Citizens and cleanest municipal wards to foster healthy civic competition.</a:t>
            </a:r>
          </a:p>
        </p:txBody>
      </p:sp>
      <p:pic>
        <p:nvPicPr>
          <p:cNvPr id="5" name="Picture 4" descr="slide_11_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"/>
            <a:ext cx="5943600" cy="3714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SwachhGrid — AI Environmental Grid | Slide 11 of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alibri"/>
              </a:defRPr>
            </a:pPr>
            <a:r>
              <a:t>SECURITY &amp;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Secure &amp; Accessible Authentication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400">
                <a:solidFill>
                  <a:srgbClr val="22C55E"/>
                </a:solidFill>
              </a:rPr>
              <a:t>• Hybrid Authentication:</a:t>
            </a:r>
            <a:r>
              <a:rPr sz="1400">
                <a:solidFill>
                  <a:srgbClr val="F8FAFC"/>
                </a:solidFill>
              </a:rPr>
              <a:t> Supports native Google OAuth 2.0 Sign-In alongside JWT email/password authentication.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400">
                <a:solidFill>
                  <a:srgbClr val="22C55E"/>
                </a:solidFill>
              </a:rPr>
              <a:t>• Role-Based Access Control (RBAC):</a:t>
            </a:r>
            <a:r>
              <a:rPr sz="1400">
                <a:solidFill>
                  <a:srgbClr val="F8FAFC"/>
                </a:solidFill>
              </a:rPr>
              <a:t> Strict separation of privileges between Eco-Citizens, Ward Authorities, and Super Admins.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400">
                <a:solidFill>
                  <a:srgbClr val="22C55E"/>
                </a:solidFill>
              </a:rPr>
              <a:t>• One-Click Demo Access:</a:t>
            </a:r>
            <a:r>
              <a:rPr sz="1400">
                <a:solidFill>
                  <a:srgbClr val="F8FAFC"/>
                </a:solidFill>
              </a:rPr>
              <a:t> Integrated guest profiles allowing judges and evaluators to test all roles immediately without setup.</a:t>
            </a:r>
          </a:p>
        </p:txBody>
      </p:sp>
      <p:pic>
        <p:nvPicPr>
          <p:cNvPr id="5" name="Picture 4" descr="slide_12_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"/>
            <a:ext cx="5943600" cy="3714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SwachhGrid — AI Environmental Grid | Slide 12 of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alibri"/>
              </a:defRPr>
            </a:pPr>
            <a:r>
              <a:t>TECHNOLOGY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Accelerating Engineering with IBM Bob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Decoupled Architecture Generation:</a:t>
            </a:r>
            <a:r>
              <a:rPr sz="1600">
                <a:solidFill>
                  <a:srgbClr val="F8FAFC"/>
                </a:solidFill>
              </a:rPr>
              <a:t> IBM Bob designed the entire project structure, establishing clean contracts between FastAPI and React.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Multimodal AI Pipeline Setup:</a:t>
            </a:r>
            <a:r>
              <a:rPr sz="1600">
                <a:solidFill>
                  <a:srgbClr val="F8FAFC"/>
                </a:solidFill>
              </a:rPr>
              <a:t> Engineered prompt templates and API connectors for LLaMA 3.2 Vision and automated letter generation.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GIS &amp; Open Data Scripting:</a:t>
            </a:r>
            <a:r>
              <a:rPr sz="1600">
                <a:solidFill>
                  <a:srgbClr val="F8FAFC"/>
                </a:solidFill>
              </a:rPr>
              <a:t> Created automated scripts fetching real OpenStreetMap ward geometries and CPCB AQI data.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Cloud Containerization &amp; CI/CD:</a:t>
            </a:r>
            <a:r>
              <a:rPr sz="1600">
                <a:solidFill>
                  <a:srgbClr val="F8FAFC"/>
                </a:solidFill>
              </a:rPr>
              <a:t> Wrote production multi-stage Dockerfiles and Vercel routing rules, cutting deployment time by 80%.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SwachhGrid — AI Environmental Grid | Slide 13 of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Scalability, Vision &amp; Environmental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Short-Term Goals:</a:t>
            </a:r>
            <a:r>
              <a:rPr sz="1600">
                <a:solidFill>
                  <a:srgbClr val="F8FAFC"/>
                </a:solidFill>
              </a:rPr>
              <a:t> Integrate WhatsApp Bot integration for reporting via simple photo messages; expand GIS mapping nationwide.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Long-Term Vision:</a:t>
            </a:r>
            <a:r>
              <a:rPr sz="1600">
                <a:solidFill>
                  <a:srgbClr val="F8FAFC"/>
                </a:solidFill>
              </a:rPr>
              <a:t> Deploy IoT sensors on municipal garbage vehicles for real-time bin level telemetry and automated route optimization.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600">
                <a:solidFill>
                  <a:srgbClr val="22C55E"/>
                </a:solidFill>
              </a:rPr>
              <a:t>• Target Impact Metrics:</a:t>
            </a:r>
            <a:r>
              <a:rPr sz="1600">
                <a:solidFill>
                  <a:srgbClr val="F8FAFC"/>
                </a:solidFill>
              </a:rPr>
              <a:t> 70% Reduction in complaint resolution turnaround time; 100% Transparency on municipal grievance escalation; Active Civic Participation across 100+ municipal wards.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SwachhGrid — AI Environmental Grid | Slide 14 of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alibri"/>
              </a:defRPr>
            </a:pPr>
            <a:r>
              <a:t>SUBMISSION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Thank You! — Experience SwachhGrid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400"/>
              </a:spcAft>
            </a:pPr>
            <a:r>
              <a:rPr b="1" sz="1800">
                <a:solidFill>
                  <a:srgbClr val="22C55E"/>
                </a:solidFill>
              </a:rPr>
              <a:t>Live Web Application: </a:t>
            </a:r>
            <a:r>
              <a:rPr sz="1800">
                <a:solidFill>
                  <a:srgbClr val="06B6D4"/>
                </a:solidFill>
              </a:rPr>
              <a:t>https://swachh-grid.vercel.app</a:t>
            </a:r>
          </a:p>
          <a:p>
            <a:pPr algn="l">
              <a:spcAft>
                <a:spcPts val="1400"/>
              </a:spcAft>
            </a:pPr>
            <a:r>
              <a:rPr b="1" sz="1800">
                <a:solidFill>
                  <a:srgbClr val="22C55E"/>
                </a:solidFill>
              </a:rPr>
              <a:t>GitHub Repository: </a:t>
            </a:r>
            <a:r>
              <a:rPr sz="1800">
                <a:solidFill>
                  <a:srgbClr val="06B6D4"/>
                </a:solidFill>
              </a:rPr>
              <a:t>https://github.com/IqraKhanZ/SwachhGrid</a:t>
            </a:r>
          </a:p>
          <a:p>
            <a:pPr algn="l">
              <a:spcAft>
                <a:spcPts val="1400"/>
              </a:spcAft>
            </a:pPr>
            <a:r>
              <a:rPr b="1" sz="1800">
                <a:solidFill>
                  <a:srgbClr val="22C55E"/>
                </a:solidFill>
              </a:rPr>
              <a:t>IBM Bob Tech Report: </a:t>
            </a:r>
            <a:r>
              <a:rPr sz="1800">
                <a:solidFill>
                  <a:srgbClr val="06B6D4"/>
                </a:solidFill>
              </a:rPr>
              <a:t>https://github.com/IqraKhanZ/SwachhGrid/blob/main/IBM_BOB_USAGE.md</a:t>
            </a:r>
          </a:p>
          <a:p>
            <a:pPr algn="l">
              <a:spcAft>
                <a:spcPts val="1400"/>
              </a:spcAft>
            </a:pPr>
            <a:r>
              <a:rPr b="1" sz="1800">
                <a:solidFill>
                  <a:srgbClr val="22C55E"/>
                </a:solidFill>
              </a:rPr>
              <a:t>Backend API Docs: </a:t>
            </a:r>
            <a:r>
              <a:rPr sz="1800">
                <a:solidFill>
                  <a:srgbClr val="06B6D4"/>
                </a:solidFill>
              </a:rPr>
              <a:t>https://swachhgrid-backend.onrender.com/docs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SwachhGrid — AI Environmental Grid | Slide 15 of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